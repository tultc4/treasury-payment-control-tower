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Wednesday, Treasury pays vendors for seven legal entities from Singapore to China. Until now that meant a stack of Excel files and a full day of line-by-line checking. This is the same run — on one screen, with every control built in. Everything you'll see today is live and uses our real batch data. (20 seconds, then go straight to pain.)</a:t>
            </a:r>
          </a:p>
          <a:p>
            <a:r>
              <a:t>EMPHASIZE: 'live and real data'.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AP files are living documents — one real file had 11,000 rows spanning two years, and two files restated the same payments on two sheets. Reconciliation means eyeballing a bank file against Excel; 'did it actually debit?' means searching a statement PDF. The dangerous part isn't the hours — it's that a wrong account or duplicate reference looks exactly like a correct row until the money is gone.</a:t>
            </a:r>
          </a:p>
          <a:p>
            <a:r>
              <a:t>EMPHASIZE: 'errors look exactly like correct rows'. Frame as a process gap, never blame 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Python parsers consolidate any AP or bank file — they survived real files: Vietnamese headers, two amount columns, duplicated sheets, headers on row 5. The dashboard runs the controls: 4-field matching (amount, beneficiary, account, SWIFT), duplicate-reference checks against bank history, and debit confirmation that only accepts transaction-level evidence, never a balance movement. Critically: the system never moves money — people decide.</a:t>
            </a:r>
          </a:p>
          <a:p>
            <a:r>
              <a:t>DEMO BEAT: click one DIFF row, fix it inline, watch the match recompute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Fill the XX numbers with a timed baseline before submission — judges trust a measured '6.5 hours to 40 minutes' far more than a claimed '90%'. Two impacts are already real: the sufficiency check flagged a ~5M THB shortfall on a GN TH account before the run, and parser validation caught a systematic wrong-amount pattern a manual process had lived with.</a:t>
            </a:r>
          </a:p>
          <a:p>
            <a:r>
              <a:t>EMPHASIZE the two true stories. Concrete beats percentage.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chose the simplest architecture that maximizes control: everything runs on the Treasury laptop, so real bank and beneficiary data never touches a server — a privacy decision, not a limitation. The pilot costs nothing. We're equally honest about production needs: authentication, a server-side audit store, and maker-checker enforced by the system rather than by procedure — known, scoped, standard.</a:t>
            </a:r>
          </a:p>
          <a:p>
            <a:r>
              <a:t>For IT: parsers survived UTF-16 files, phantom columns, headers-on-row-5 — the boring reliability work is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in the green band you can click right now — this is the link. The go-live list is deliberately short because the hard treasury logic already works; what remains is enterprise plumbing. The scale story is real: adding an entity is configuration, because entity rules, bank rules and holiday calendars are data, not code.</a:t>
            </a:r>
          </a:p>
          <a:p>
            <a:r>
              <a:t>CLOSE: 'We didn't build a dashboard that displays payments. We built a control tower that tells Treasury what to do about today's money — and proves what was done.' Then stop talking; leave the URL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18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554990"/>
                </a:solidFill>
                <a:latin typeface="Segoe UI"/>
              </a:rPr>
              <a:t>FA HACKATHON · TRACK: NON-AGENT (AUTOMATION &amp; ANALYTICS)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800" b="1">
                <a:solidFill>
                  <a:srgbClr val="1A1C28"/>
                </a:solidFill>
                <a:latin typeface="Segoe UI"/>
              </a:rPr>
              <a:t>Treasury Payment Control Tower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554990"/>
                </a:solidFill>
                <a:latin typeface="Segoe UI"/>
              </a:rPr>
              <a:t>From manual payment checking to automated treasury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611880"/>
            <a:ext cx="196596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554990"/>
                </a:solidFill>
                <a:latin typeface="Segoe UI"/>
              </a:rPr>
              <a:t>7</a:t>
            </a:r>
          </a:p>
          <a:p>
            <a:pPr algn="ctr"/>
            <a:r>
              <a:rPr sz="1200">
                <a:solidFill>
                  <a:srgbClr val="6B6F80"/>
                </a:solidFill>
                <a:latin typeface="Segoe UI"/>
              </a:rPr>
              <a:t>legal entities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3611880"/>
            <a:ext cx="196596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554990"/>
                </a:solidFill>
                <a:latin typeface="Segoe UI"/>
              </a:rPr>
              <a:t>6</a:t>
            </a:r>
          </a:p>
          <a:p>
            <a:pPr algn="ctr"/>
            <a:r>
              <a:rPr sz="1200">
                <a:solidFill>
                  <a:srgbClr val="6B6F80"/>
                </a:solidFill>
                <a:latin typeface="Segoe UI"/>
              </a:rPr>
              <a:t>currencies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3611880"/>
            <a:ext cx="196596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554990"/>
                </a:solidFill>
                <a:latin typeface="Segoe UI"/>
              </a:rPr>
              <a:t>3</a:t>
            </a:r>
          </a:p>
          <a:p>
            <a:pPr algn="ctr"/>
            <a:r>
              <a:rPr sz="1200">
                <a:solidFill>
                  <a:srgbClr val="6B6F80"/>
                </a:solidFill>
                <a:latin typeface="Segoe UI"/>
              </a:rPr>
              <a:t>banks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3611880"/>
            <a:ext cx="196596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554990"/>
                </a:solidFill>
                <a:latin typeface="Segoe UI"/>
              </a:rPr>
              <a:t>1</a:t>
            </a:r>
          </a:p>
          <a:p>
            <a:pPr algn="ctr"/>
            <a:r>
              <a:rPr sz="1200">
                <a:solidFill>
                  <a:srgbClr val="6B6F80"/>
                </a:solidFill>
                <a:latin typeface="Segoe UI"/>
              </a:rPr>
              <a:t>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29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1A1C28"/>
                </a:solidFill>
                <a:latin typeface="Segoe UI"/>
              </a:rPr>
              <a:t>Individual entry · Lê Thị Cẩm Tú (Stella) — Oversea Treasury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44068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6F80"/>
                </a:solidFill>
                <a:latin typeface="Segoe UI"/>
              </a:rPr>
              <a:t>Why Non-Agent: deterministic parsing, rule-based reconciliation and control logic — correctness and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6F80"/>
                </a:solidFill>
                <a:latin typeface="Segoe UI"/>
              </a:rPr>
              <a:t>auditability matter more than generative output.  Live demo: tultc4.github.io/treasury-payment-dashboard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B6F80"/>
                </a:solidFill>
                <a:latin typeface="Segoe UI"/>
              </a:rPr>
              <a:t>1 /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B6F80"/>
                </a:solidFill>
                <a:latin typeface="Segoe UI"/>
              </a:rPr>
              <a:t>Treasury Payment Control Tower — FA Hackathon · Lê Thị Cẩm Tú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554990"/>
                </a:solidFill>
                <a:latin typeface="Segoe UI"/>
              </a:rPr>
              <a:t>PAIN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>
                <a:solidFill>
                  <a:srgbClr val="1A1C28"/>
                </a:solidFill>
                <a:latin typeface="Segoe UI"/>
              </a:rPr>
              <a:t>One payment run, five disconnected files, zero 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6F80"/>
                </a:solidFill>
                <a:latin typeface="Segoe UI"/>
              </a:rPr>
              <a:t>The risk isn't effort — it's that errors and funding gaps are found late, by hand, or not at 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481328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1A1C28"/>
                </a:solidFill>
                <a:latin typeface="Segoe UI"/>
              </a:rPr>
              <a:t>AP Excel</a:t>
            </a:r>
          </a:p>
          <a:p>
            <a:pPr algn="ctr"/>
            <a:r>
              <a:rPr sz="1050" b="0">
                <a:solidFill>
                  <a:srgbClr val="1A1C28"/>
                </a:solidFill>
                <a:latin typeface="Segoe UI"/>
              </a:rPr>
              <a:t>(× 7 entities)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47672" y="194767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6B6F80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9696" y="1691640"/>
            <a:ext cx="1481328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1A1C28"/>
                </a:solidFill>
                <a:latin typeface="Segoe UI"/>
              </a:rPr>
              <a:t>Manual line</a:t>
            </a:r>
          </a:p>
          <a:p>
            <a:pPr algn="ctr"/>
            <a:r>
              <a:rPr sz="1050" b="0">
                <a:solidFill>
                  <a:srgbClr val="1A1C28"/>
                </a:solidFill>
                <a:latin typeface="Segoe UI"/>
              </a:rPr>
              <a:t>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4448" y="194767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6B6F80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76472" y="1691640"/>
            <a:ext cx="1481328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1A1C28"/>
                </a:solidFill>
                <a:latin typeface="Segoe UI"/>
              </a:rPr>
              <a:t>Manual</a:t>
            </a:r>
          </a:p>
          <a:p>
            <a:pPr algn="ctr"/>
            <a:r>
              <a:rPr sz="1050" b="0">
                <a:solidFill>
                  <a:srgbClr val="1A1C28"/>
                </a:solidFill>
                <a:latin typeface="Segoe UI"/>
              </a:rPr>
              <a:t>enrichment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1224" y="194767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6B6F80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13248" y="1691640"/>
            <a:ext cx="1481328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1A1C28"/>
                </a:solidFill>
                <a:latin typeface="Segoe UI"/>
              </a:rPr>
              <a:t>ERP file</a:t>
            </a:r>
          </a:p>
          <a:p>
            <a:pPr algn="ctr"/>
            <a:r>
              <a:rPr sz="1050" b="0">
                <a:solidFill>
                  <a:srgbClr val="1A1C28"/>
                </a:solidFill>
                <a:latin typeface="Segoe UI"/>
              </a:rPr>
              <a:t>by hand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94767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6B6F80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50024" y="1691640"/>
            <a:ext cx="1481328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1A1C28"/>
                </a:solidFill>
                <a:latin typeface="Segoe UI"/>
              </a:rPr>
              <a:t>Compare bank</a:t>
            </a:r>
          </a:p>
          <a:p>
            <a:pPr algn="ctr"/>
            <a:r>
              <a:rPr sz="1050" b="0">
                <a:solidFill>
                  <a:srgbClr val="1A1C28"/>
                </a:solidFill>
                <a:latin typeface="Segoe UI"/>
              </a:rPr>
              <a:t>file by eye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4776" y="194767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6B6F80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691640"/>
            <a:ext cx="1481328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1A1C28"/>
                </a:solidFill>
                <a:latin typeface="Segoe UI"/>
              </a:rPr>
              <a:t>Search statement</a:t>
            </a:r>
          </a:p>
          <a:p>
            <a:pPr algn="ctr"/>
            <a:r>
              <a:rPr sz="1050" b="0">
                <a:solidFill>
                  <a:srgbClr val="1A1C28"/>
                </a:solidFill>
                <a:latin typeface="Segoe UI"/>
              </a:rPr>
              <a:t>per debit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31552" y="194767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6B6F80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23576" y="1691640"/>
            <a:ext cx="1481328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>
                <a:solidFill>
                  <a:srgbClr val="1A1C28"/>
                </a:solidFill>
                <a:latin typeface="Segoe UI"/>
              </a:rPr>
              <a:t>Balance check</a:t>
            </a:r>
          </a:p>
          <a:p>
            <a:pPr algn="ctr"/>
            <a:r>
              <a:rPr sz="1050" b="0">
                <a:solidFill>
                  <a:srgbClr val="1A1C28"/>
                </a:solidFill>
                <a:latin typeface="Segoe UI"/>
              </a:rPr>
              <a:t>per account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834640"/>
            <a:ext cx="6858000" cy="3063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01752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9563A"/>
                </a:solidFill>
                <a:latin typeface="Segoe UI"/>
              </a:rPr>
              <a:t>WHAT CAN GO WRONG — SILENTLY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401568"/>
            <a:ext cx="6400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1A1C28"/>
                </a:solidFill>
                <a:latin typeface="Segoe UI"/>
              </a:rPr>
              <a:t>•  Wrong or stale beneficiary account / SWIFT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1A1C28"/>
                </a:solidFill>
                <a:latin typeface="Segoe UI"/>
              </a:rPr>
              <a:t>•  Duplicate payment reference vs. bank history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1A1C28"/>
                </a:solidFill>
                <a:latin typeface="Segoe UI"/>
              </a:rPr>
              <a:t>•  Wrong value date · holiday or cut-off missed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1A1C28"/>
                </a:solidFill>
                <a:latin typeface="Segoe UI"/>
              </a:rPr>
              <a:t>•  Funding shortfall discovered after submission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1A1C28"/>
                </a:solidFill>
                <a:latin typeface="Segoe UI"/>
              </a:rPr>
              <a:t>•  A “settled” payment that never actually debited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834640"/>
            <a:ext cx="4069080" cy="3063240"/>
          </a:xfrm>
          <a:prstGeom prst="roundRect">
            <a:avLst/>
          </a:prstGeom>
          <a:solidFill>
            <a:srgbClr val="F0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3017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554990"/>
                </a:solidFill>
                <a:latin typeface="Segoe UI"/>
              </a:rPr>
              <a:t>WHO PAYS FOR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3401568"/>
            <a:ext cx="35661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350" b="1">
                <a:solidFill>
                  <a:srgbClr val="1A1C28"/>
                </a:solidFill>
                <a:latin typeface="Segoe UI"/>
              </a:rPr>
              <a:t>Treasury — </a:t>
            </a:r>
            <a:r>
              <a:rPr sz="1350" b="0">
                <a:solidFill>
                  <a:srgbClr val="6B6F80"/>
                </a:solidFill>
                <a:latin typeface="Segoe UI"/>
              </a:rPr>
              <a:t>a full day per cycle re-checking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350" b="1">
                <a:solidFill>
                  <a:srgbClr val="1A1C28"/>
                </a:solidFill>
                <a:latin typeface="Segoe UI"/>
              </a:rPr>
              <a:t>CFO — </a:t>
            </a:r>
            <a:r>
              <a:rPr sz="1350" b="0">
                <a:solidFill>
                  <a:srgbClr val="6B6F80"/>
                </a:solidFill>
                <a:latin typeface="Segoe UI"/>
              </a:rPr>
              <a:t>payment &amp; liquidity risk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350" b="1">
                <a:solidFill>
                  <a:srgbClr val="1A1C28"/>
                </a:solidFill>
                <a:latin typeface="Segoe UI"/>
              </a:rPr>
              <a:t>Auditor — </a:t>
            </a:r>
            <a:r>
              <a:rPr sz="1350" b="0">
                <a:solidFill>
                  <a:srgbClr val="6B6F80"/>
                </a:solidFill>
                <a:latin typeface="Segoe UI"/>
              </a:rPr>
              <a:t>no single evidence trail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350" b="1">
                <a:solidFill>
                  <a:srgbClr val="1A1C28"/>
                </a:solidFill>
                <a:latin typeface="Segoe UI"/>
              </a:rPr>
              <a:t>Vendors — </a:t>
            </a:r>
            <a:r>
              <a:rPr sz="1350" b="0">
                <a:solidFill>
                  <a:srgbClr val="6B6F80"/>
                </a:solidFill>
                <a:latin typeface="Segoe UI"/>
              </a:rPr>
              <a:t>late payments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B6F80"/>
                </a:solidFill>
                <a:latin typeface="Segoe UI"/>
              </a:rPr>
              <a:t>2 /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B6F80"/>
                </a:solidFill>
                <a:latin typeface="Segoe UI"/>
              </a:rPr>
              <a:t>Treasury Payment Control Tower — FA Hackathon · Lê Thị Cẩm Tú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554990"/>
                </a:solidFill>
                <a:latin typeface="Segoe U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>
                <a:solidFill>
                  <a:srgbClr val="1A1C28"/>
                </a:solidFill>
                <a:latin typeface="Segoe UI"/>
              </a:rPr>
              <a:t>One control tower over the whole payment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6F80"/>
                </a:solidFill>
                <a:latin typeface="Segoe UI"/>
              </a:rPr>
              <a:t>Files go in, controlled decisions come out — a human stays at every control 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520440" cy="3200400"/>
          </a:xfrm>
          <a:prstGeom prst="roundRect">
            <a:avLst/>
          </a:prstGeom>
          <a:solidFill>
            <a:srgbClr val="F0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554990"/>
                </a:solidFill>
                <a:latin typeface="Segoe UI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31546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A1C28"/>
                </a:solidFill>
                <a:latin typeface="Segoe UI"/>
              </a:rPr>
              <a:t>•  AP payment lists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A1C28"/>
                </a:solidFill>
                <a:latin typeface="Segoe UI"/>
              </a:rPr>
              <a:t>•  ERP upload template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A1C28"/>
                </a:solidFill>
                <a:latin typeface="Segoe UI"/>
              </a:rPr>
              <a:t>•  Bank creation file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A1C28"/>
                </a:solidFill>
                <a:latin typeface="Segoe UI"/>
              </a:rPr>
              <a:t>•  Bank statements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A1C28"/>
                </a:solidFill>
                <a:latin typeface="Segoe UI"/>
              </a:rPr>
              <a:t>•  Master data &amp; balances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A1C28"/>
                </a:solidFill>
                <a:latin typeface="Segoe UI"/>
              </a:rPr>
              <a:t>•  Holiday / run calendar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40" y="30175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9184D9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52044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A1C28"/>
                </a:solidFill>
                <a:latin typeface="Segoe UI"/>
              </a:rPr>
              <a:t>PROCESSING — AUTOMATED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12848"/>
            <a:ext cx="31546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A1C28"/>
                </a:solidFill>
                <a:latin typeface="Segoe UI"/>
              </a:rPr>
              <a:t>•  Parse &amp; validate every row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A1C28"/>
                </a:solidFill>
                <a:latin typeface="Segoe UI"/>
              </a:rPr>
              <a:t>•  Enrich: bank · method · charges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A1C28"/>
                </a:solidFill>
                <a:latin typeface="Segoe UI"/>
              </a:rPr>
              <a:t>•  Reconcile bank file (4 fields)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A1C28"/>
                </a:solidFill>
                <a:latin typeface="Segoe UI"/>
              </a:rPr>
              <a:t>•  Match debits transaction-level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A1C28"/>
                </a:solidFill>
                <a:latin typeface="Segoe UI"/>
              </a:rPr>
              <a:t>•  Cash sufficiency per account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A1C28"/>
                </a:solidFill>
                <a:latin typeface="Segoe UI"/>
              </a:rPr>
              <a:t>•  Exception detection · audit logging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0175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9184D9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645920"/>
            <a:ext cx="3520440" cy="3200400"/>
          </a:xfrm>
          <a:prstGeom prst="roundRect">
            <a:avLst/>
          </a:prstGeom>
          <a:solidFill>
            <a:srgbClr val="E6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8288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F6E50"/>
                </a:solidFill>
                <a:latin typeface="Segoe UI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212848"/>
            <a:ext cx="31546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A1C28"/>
                </a:solidFill>
                <a:latin typeface="Segoe UI"/>
              </a:rPr>
              <a:t>•  Clean ERP CSV per entity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A1C28"/>
                </a:solidFill>
                <a:latin typeface="Segoe UI"/>
              </a:rPr>
              <a:t>•  Live status: AP → debit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A1C28"/>
                </a:solidFill>
                <a:latin typeface="Segoe UI"/>
              </a:rPr>
              <a:t>•  Exception list (owner · age)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A1C28"/>
                </a:solidFill>
                <a:latin typeface="Segoe UI"/>
              </a:rPr>
              <a:t>•  Funding-gap alert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A1C28"/>
                </a:solidFill>
                <a:latin typeface="Segoe UI"/>
              </a:rPr>
              <a:t>•  Approval email + evidence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A1C28"/>
                </a:solidFill>
                <a:latin typeface="Segoe UI"/>
              </a:rPr>
              <a:t>•  Audit trail of every 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074920"/>
            <a:ext cx="11201400" cy="105156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1208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C9C2EF"/>
                </a:solidFill>
                <a:latin typeface="Segoe UI"/>
              </a:rPr>
              <a:t>HUMAN CONTROL POINTS — NOTHING PAYS AUTOMATICALLY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Treasury reviews enrichment  →  approves ERP export  →  resolves every bank DIFF (override needs a written reason)  →  approval email to L1/L2 before release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B6F80"/>
                </a:solidFill>
                <a:latin typeface="Segoe UI"/>
              </a:rPr>
              <a:t>3 /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B6F80"/>
                </a:solidFill>
                <a:latin typeface="Segoe UI"/>
              </a:rPr>
              <a:t>Treasury Payment Control Tower — FA Hackathon · Lê Thị Cẩm Tú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554990"/>
                </a:solidFill>
                <a:latin typeface="Segoe U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>
                <a:solidFill>
                  <a:srgbClr val="1A1C28"/>
                </a:solidFill>
                <a:latin typeface="Segoe UI"/>
              </a:rPr>
              <a:t>From a day of checking to minutes of deciding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6F80"/>
                </a:solidFill>
                <a:latin typeface="Segoe UI"/>
              </a:rPr>
              <a:t>Measurable time back — and risks that used to be invisible are caught before money moves.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11201400" cy="384048"/>
          </a:xfrm>
          <a:prstGeom prst="rect">
            <a:avLst/>
          </a:prstGeom>
          <a:solidFill>
            <a:srgbClr val="F0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554990"/>
                </a:solidFill>
                <a:latin typeface="Segoe UI"/>
              </a:rPr>
              <a:t>BEFORE —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737360"/>
            <a:ext cx="4206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554990"/>
                </a:solidFill>
                <a:latin typeface="Segoe UI"/>
              </a:rPr>
              <a:t>AFTER — CONTROL TOWER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73736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554990"/>
                </a:solidFill>
                <a:latin typeface="Segoe UI"/>
              </a:rPr>
              <a:t>KPI TO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39696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6F80"/>
                </a:solidFill>
                <a:latin typeface="Segoe UI"/>
              </a:rPr>
              <a:t>Line-by-line checking, 7 entities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39696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A1C28"/>
                </a:solidFill>
                <a:latin typeface="Segoe UI"/>
              </a:rPr>
              <a:t>46 groups parsed &amp; validated in under a minute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139696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554990"/>
                </a:solidFill>
                <a:latin typeface="Segoe UI"/>
              </a:rPr>
              <a:t>XX hrs → XX min / cycle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97480"/>
            <a:ext cx="112014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61488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6F80"/>
                </a:solidFill>
                <a:latin typeface="Segoe UI"/>
              </a:rPr>
              <a:t>Bank file compared by eye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76148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A1C28"/>
                </a:solidFill>
                <a:latin typeface="Segoe UI"/>
              </a:rPr>
              <a:t>4-field auto-match; only true DIFFs surface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761488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554990"/>
                </a:solidFill>
                <a:latin typeface="Segoe UI"/>
              </a:rPr>
              <a:t>XX% fewer manual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832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6F80"/>
                </a:solidFill>
                <a:latin typeface="Segoe UI"/>
              </a:rPr>
              <a:t>Debits hunted in statement PDFs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83280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A1C28"/>
                </a:solidFill>
                <a:latin typeface="Segoe UI"/>
              </a:rPr>
              <a:t>333 statement lines matched automatically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38328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554990"/>
                </a:solidFill>
                <a:latin typeface="Segoe UI"/>
              </a:rPr>
              <a:t>XX% faster settlement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41064"/>
            <a:ext cx="112014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05072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6F80"/>
                </a:solidFill>
                <a:latin typeface="Segoe UI"/>
              </a:rPr>
              <a:t>Funding gaps found after submission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00507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A1C28"/>
                </a:solidFill>
                <a:latin typeface="Segoe UI"/>
              </a:rPr>
              <a:t>Shortfall alert before the run (real ~5M THB catch)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005072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554990"/>
                </a:solidFill>
                <a:latin typeface="Segoe UI"/>
              </a:rPr>
              <a:t>100% pre-run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26864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6F80"/>
                </a:solidFill>
                <a:latin typeface="Segoe UI"/>
              </a:rPr>
              <a:t>Errors found downstream — or never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626864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A1C28"/>
                </a:solidFill>
                <a:latin typeface="Segoe UI"/>
              </a:rPr>
              <a:t>Duplicates, missing fields, zero amounts blocked at 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4626864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554990"/>
                </a:solidFill>
                <a:latin typeface="Segoe UI"/>
              </a:rPr>
              <a:t>XX reworks avoided / qtr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184648"/>
            <a:ext cx="112014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248656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6F80"/>
                </a:solidFill>
                <a:latin typeface="Segoe UI"/>
              </a:rPr>
              <a:t>Audit evidence reconstructed by hand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5248656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1A1C28"/>
                </a:solidFill>
                <a:latin typeface="Segoe UI"/>
              </a:rPr>
              <a:t>Every import, edit, override, approval logged (who + when)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5248656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554990"/>
                </a:solidFill>
                <a:latin typeface="Segoe UI"/>
              </a:rPr>
              <a:t>100% action traceability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916168"/>
            <a:ext cx="11201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6F80"/>
                </a:solidFill>
                <a:latin typeface="Segoe UI"/>
              </a:rPr>
              <a:t>How we measure: stopwatch two cycles side-by-side (manual vs. dashboard, same batch, same operator) · count manual touchpoints per payment · timestamp issue-in-file → issue-surfaced · reworks per quarter from ERP &amp; bank logs.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B6F80"/>
                </a:solidFill>
                <a:latin typeface="Segoe UI"/>
              </a:rPr>
              <a:t>4 /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B6F80"/>
                </a:solidFill>
                <a:latin typeface="Segoe UI"/>
              </a:rPr>
              <a:t>Treasury Payment Control Tower — FA Hackathon · Lê Thị Cẩm Tú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554990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>
                <a:solidFill>
                  <a:srgbClr val="1A1C28"/>
                </a:solidFill>
                <a:latin typeface="Segoe UI"/>
              </a:rPr>
              <a:t>Two parsers, one file — zero data leaves Treasury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6F80"/>
                </a:solidFill>
                <a:latin typeface="Segoe UI"/>
              </a:rPr>
              <a:t>The architecture is a control decision — privacy by design, near-zero cost, honest about production gaps.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598932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6B6F80"/>
                </a:solidFill>
                <a:latin typeface="Segoe UI"/>
              </a:rPr>
              <a:t>AP Excel / bank files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9184D9"/>
                </a:solidFill>
                <a:latin typeface="Segoe UI"/>
              </a:rPr>
              <a:t>▼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554990"/>
                </a:solidFill>
                <a:latin typeface="Segoe UI"/>
              </a:rPr>
              <a:t>PYTHON PARSERS  (pandas + openpyxl)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6B6F80"/>
                </a:solidFill>
                <a:latin typeface="Segoe UI"/>
              </a:rPr>
              <a:t>entity detection · header intelligence · dedupe · validation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9184D9"/>
                </a:solidFill>
                <a:latin typeface="Segoe UI"/>
              </a:rPr>
              <a:t>▼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554990"/>
                </a:solidFill>
                <a:latin typeface="Segoe UI"/>
              </a:rPr>
              <a:t>CONTROL TOWER DASHBOARD  (single offline HTML)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6B6F80"/>
                </a:solidFill>
                <a:latin typeface="Segoe UI"/>
              </a:rPr>
              <a:t>enrichment rules · ERP CSV builder · 4-field bank match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6B6F80"/>
                </a:solidFill>
                <a:latin typeface="Segoe UI"/>
              </a:rPr>
              <a:t>transaction-level debit match · cash sufficiency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6B6F80"/>
                </a:solidFill>
                <a:latin typeface="Segoe UI"/>
              </a:rPr>
              <a:t>run-day &amp; holiday calendar · exceptions · audit log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9184D9"/>
                </a:solidFill>
                <a:latin typeface="Segoe UI"/>
              </a:rPr>
              <a:t>▼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1F6E50"/>
                </a:solidFill>
                <a:latin typeface="Segoe UI"/>
              </a:rPr>
              <a:t>ERP CSVs · approval email + XLSX evidence · exports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645920"/>
            <a:ext cx="4983480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700784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554990"/>
                </a:solidFill>
                <a:latin typeface="Segoe UI"/>
              </a:rPr>
              <a:t>AUTOMATED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938528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A1C28"/>
                </a:solidFill>
                <a:latin typeface="Segoe UI"/>
              </a:rPr>
              <a:t>parsing, validation, enrichment defaults, matching, sufficiency, calendar, logging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542032"/>
            <a:ext cx="4983480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2596896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554990"/>
                </a:solidFill>
                <a:latin typeface="Segoe UI"/>
              </a:rPr>
              <a:t>HUMAN 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83464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A1C28"/>
                </a:solidFill>
                <a:latin typeface="Segoe UI"/>
              </a:rPr>
              <a:t>ERP export · every DIFF override (reason required) · approval email L1/L2 · bulk edits (confirm + undo)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3438144"/>
            <a:ext cx="4983480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3493008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554990"/>
                </a:solidFill>
                <a:latin typeface="Segoe UI"/>
              </a:rPr>
              <a:t>DATA &amp;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730752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A1C28"/>
                </a:solidFill>
                <a:latin typeface="Segoe UI"/>
              </a:rPr>
              <a:t>100% client-side — bank data never leaves the Treasury laptop; public URL serves an empty shell; CSV outputs formula-escape hardened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4334256"/>
            <a:ext cx="4983480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4389120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554990"/>
                </a:solidFill>
                <a:latin typeface="Segoe UI"/>
              </a:rPr>
              <a:t>COST TO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4626864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A1C28"/>
                </a:solidFill>
                <a:latin typeface="Segoe UI"/>
              </a:rPr>
              <a:t>≈ $0 — no server, no license; Python + a browser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5230368"/>
            <a:ext cx="4983480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5285232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554990"/>
                </a:solidFill>
                <a:latin typeface="Segoe UI"/>
              </a:rPr>
              <a:t>GAPS TO 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5522976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A1C28"/>
                </a:solidFill>
                <a:latin typeface="Segoe UI"/>
              </a:rPr>
              <a:t>single-user by design today → needs SSO/auth, server-side audit store, system-enforced maker-checker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B6F80"/>
                </a:solidFill>
                <a:latin typeface="Segoe UI"/>
              </a:rPr>
              <a:t>5 /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B6F80"/>
                </a:solidFill>
                <a:latin typeface="Segoe UI"/>
              </a:rPr>
              <a:t>Treasury Payment Control Tower — FA Hackathon · Lê Thị Cẩm Tú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554990"/>
                </a:solidFill>
                <a:latin typeface="Segoe UI"/>
              </a:rPr>
              <a:t>STATUS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>
                <a:solidFill>
                  <a:srgbClr val="1A1C28"/>
                </a:solidFill>
                <a:latin typeface="Segoe UI"/>
              </a:rPr>
              <a:t>Working today for one team — designed for regional treasury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6F80"/>
                </a:solidFill>
                <a:latin typeface="Segoe UI"/>
              </a:rPr>
              <a:t>Not a concept: it runs on real batches now, and the path to production and reuse is concrete.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11201400" cy="1078992"/>
          </a:xfrm>
          <a:prstGeom prst="roundRect">
            <a:avLst/>
          </a:prstGeom>
          <a:solidFill>
            <a:srgbClr val="E6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F6E50"/>
                </a:solidFill>
                <a:latin typeface="Segoe UI"/>
              </a:rPr>
              <a:t>TODAY — WORKING, DEMO-ABLE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A1C28"/>
                </a:solidFill>
                <a:latin typeface="Segoe UI"/>
              </a:rPr>
              <a:t>Full lifecycle on real batches: 46 groups · 7 entities · 6 currencies · 3 banks  ·  exception workflow (owner / age / status)  ·  audit log of every action  ·  QA-audited (WCAG AA, 14 findings fixed)  ·  2026 run calendar built in (35 run days, 17 blocked Wednesdays)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52928"/>
            <a:ext cx="11201400" cy="1078992"/>
          </a:xfrm>
          <a:prstGeom prst="round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8A6116"/>
                </a:solidFill>
                <a:latin typeface="Segoe UI"/>
              </a:rPr>
              <a:t>TO GO LIVE — SCOPED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18688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A1C28"/>
                </a:solidFill>
                <a:latin typeface="Segoe UI"/>
              </a:rPr>
              <a:t>UAT with Treasury users on 2–3 real cycles  →  user access control (SSO)  →  system-enforced maker-checker  →  production hosting + server-side audit store  →  data security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059936"/>
            <a:ext cx="11201400" cy="1078992"/>
          </a:xfrm>
          <a:prstGeom prst="roundRect">
            <a:avLst/>
          </a:prstGeom>
          <a:solidFill>
            <a:srgbClr val="F0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33088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554990"/>
                </a:solidFill>
                <a:latin typeface="Segoe UI"/>
              </a:rPr>
              <a:t>SCALE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25696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1A1C28"/>
                </a:solidFill>
                <a:latin typeface="Segoe UI"/>
              </a:rPr>
              <a:t>New entity = configuration, not code  ·  more banks via the same rule contract  ·  reusable by any FA / Treasury team  ·  Regional Treasury Control Tower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85232"/>
            <a:ext cx="11201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6B6F80"/>
                </a:solidFill>
                <a:latin typeface="Segoe UI"/>
              </a:rPr>
              <a:t>ROADMAP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577840"/>
            <a:ext cx="178308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0">
                <a:solidFill>
                  <a:srgbClr val="1A1C28"/>
                </a:solidFill>
                <a:latin typeface="Segoe UI"/>
              </a:rPr>
              <a:t>Auto approval package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86584" y="5577840"/>
            <a:ext cx="178308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0">
                <a:solidFill>
                  <a:srgbClr val="1A1C28"/>
                </a:solidFill>
                <a:latin typeface="Segoe UI"/>
              </a:rPr>
              <a:t>Zalo / Teams alerts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0248" y="5577840"/>
            <a:ext cx="178308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0">
                <a:solidFill>
                  <a:srgbClr val="1A1C28"/>
                </a:solidFill>
                <a:latin typeface="Segoe UI"/>
              </a:rPr>
              <a:t>Holiday alert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5577840"/>
            <a:ext cx="178308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0">
                <a:solidFill>
                  <a:srgbClr val="1A1C28"/>
                </a:solidFill>
                <a:latin typeface="Segoe UI"/>
              </a:rPr>
              <a:t>Bank API integration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6" y="5577840"/>
            <a:ext cx="178308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0">
                <a:solidFill>
                  <a:srgbClr val="1A1C28"/>
                </a:solidFill>
                <a:latin typeface="Segoe UI"/>
              </a:rPr>
              <a:t>Cash-forecast link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5577840"/>
            <a:ext cx="178308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000" b="0">
                <a:solidFill>
                  <a:srgbClr val="1A1C28"/>
                </a:solidFill>
                <a:latin typeface="Segoe UI"/>
              </a:rPr>
              <a:t>Regional roll-up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35624"/>
            <a:ext cx="11201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554990"/>
                </a:solidFill>
                <a:latin typeface="Segoe UI"/>
              </a:rPr>
              <a:t>Live now:  tultc4.github.io/treasury-payment-dashboard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B6F80"/>
                </a:solidFill>
                <a:latin typeface="Segoe UI"/>
              </a:rPr>
              <a:t>6 /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B6F80"/>
                </a:solidFill>
                <a:latin typeface="Segoe UI"/>
              </a:rPr>
              <a:t>Treasury Payment Control Tower — FA Hackathon · Lê Thị Cẩm Tú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